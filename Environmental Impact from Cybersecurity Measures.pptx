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66" d="100"/>
          <a:sy n="66" d="100"/>
        </p:scale>
        <p:origin x="-354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59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13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1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526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23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89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5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196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Friday, April 3, 2026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08098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37" r:id="rId4"/>
    <p:sldLayoutId id="2147483738" r:id="rId5"/>
    <p:sldLayoutId id="2147483743" r:id="rId6"/>
    <p:sldLayoutId id="2147483739" r:id="rId7"/>
    <p:sldLayoutId id="2147483740" r:id="rId8"/>
    <p:sldLayoutId id="2147483741" r:id="rId9"/>
    <p:sldLayoutId id="2147483742" r:id="rId10"/>
    <p:sldLayoutId id="214748374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6F292AA-C8DB-4CAA-97C9-456CF8540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8EBC33-5BAF-EB23-192C-1F44A3DAFF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85" r="12195" b="-1"/>
          <a:stretch>
            <a:fillRect/>
          </a:stretch>
        </p:blipFill>
        <p:spPr>
          <a:xfrm>
            <a:off x="-1" y="10"/>
            <a:ext cx="458790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A065953-3D69-4CD4-80C3-DF10DEB4C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902" y="-429"/>
            <a:ext cx="7604097" cy="6857571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  <a:alpha val="73000"/>
                </a:schemeClr>
              </a:gs>
              <a:gs pos="100000">
                <a:schemeClr val="accent2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B36DB5-F10D-4EDB-87E2-ECB9301F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901" y="0"/>
            <a:ext cx="7604097" cy="6858000"/>
          </a:xfrm>
          <a:prstGeom prst="rect">
            <a:avLst/>
          </a:prstGeom>
          <a:gradFill>
            <a:gsLst>
              <a:gs pos="0">
                <a:schemeClr val="accent5">
                  <a:alpha val="37000"/>
                </a:schemeClr>
              </a:gs>
              <a:gs pos="98000">
                <a:schemeClr val="accent2">
                  <a:alpha val="66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6F195D-95DC-419E-BBC1-E2B601A60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599847" y="4355164"/>
            <a:ext cx="7592151" cy="2502836"/>
          </a:xfrm>
          <a:prstGeom prst="rect">
            <a:avLst/>
          </a:prstGeom>
          <a:gradFill>
            <a:gsLst>
              <a:gs pos="22000">
                <a:schemeClr val="accent6">
                  <a:alpha val="39000"/>
                </a:schemeClr>
              </a:gs>
              <a:gs pos="82000">
                <a:schemeClr val="accent5">
                  <a:alpha val="19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256CF5B-1DAD-4912-86B9-FCA73369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18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1DB90D-1A1D-144C-D7DF-079380C14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5425" y="768485"/>
            <a:ext cx="6133656" cy="3169674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Environmental Impact from Cybersecurity Measures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AF2AEE-5260-B403-6AD7-27CEF462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2918" y="4793128"/>
            <a:ext cx="5462494" cy="1141157"/>
          </a:xfrm>
        </p:spPr>
        <p:txBody>
          <a:bodyPr>
            <a:norm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</a:rPr>
              <a:t>In terms of Energy Consumption and carbon emissions</a:t>
            </a:r>
          </a:p>
        </p:txBody>
      </p:sp>
    </p:spTree>
    <p:extLst>
      <p:ext uri="{BB962C8B-B14F-4D97-AF65-F5344CB8AC3E}">
        <p14:creationId xmlns:p14="http://schemas.microsoft.com/office/powerpoint/2010/main" val="2100348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404E292-5FAB-47E8-A663-A07530CED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0FF8ED-64CE-400C-A4D5-9F943FC26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accent5">
                  <a:alpha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8868AD-100D-45F3-B11E-8A2936712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12191999" cy="6858000"/>
          </a:xfrm>
          <a:prstGeom prst="rect">
            <a:avLst/>
          </a:prstGeom>
          <a:gradFill>
            <a:gsLst>
              <a:gs pos="49000">
                <a:schemeClr val="accent5">
                  <a:alpha val="50000"/>
                </a:schemeClr>
              </a:gs>
              <a:gs pos="100000">
                <a:schemeClr val="accent2">
                  <a:alpha val="74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4742CC-05F9-44AC-AF98-AB6EF810E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96001" cy="6858000"/>
          </a:xfrm>
          <a:prstGeom prst="rect">
            <a:avLst/>
          </a:prstGeom>
          <a:gradFill>
            <a:gsLst>
              <a:gs pos="0">
                <a:schemeClr val="accent2">
                  <a:alpha val="17000"/>
                </a:schemeClr>
              </a:gs>
              <a:gs pos="85000">
                <a:schemeClr val="accent4">
                  <a:alpha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13">
            <a:extLst>
              <a:ext uri="{FF2B5EF4-FFF2-40B4-BE49-F238E27FC236}">
                <a16:creationId xmlns:a16="http://schemas.microsoft.com/office/drawing/2014/main" id="{853C77DB-C7E3-4B1F-9AD0-1EB2982A8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460656" y="-2569189"/>
            <a:ext cx="5115722" cy="10255626"/>
          </a:xfrm>
          <a:custGeom>
            <a:avLst/>
            <a:gdLst>
              <a:gd name="connsiteX0" fmla="*/ 2065105 w 2065105"/>
              <a:gd name="connsiteY0" fmla="*/ 0 h 4139967"/>
              <a:gd name="connsiteX1" fmla="*/ 2065105 w 2065105"/>
              <a:gd name="connsiteY1" fmla="*/ 4139967 h 4139967"/>
              <a:gd name="connsiteX2" fmla="*/ 1858573 w 2065105"/>
              <a:gd name="connsiteY2" fmla="*/ 4129538 h 4139967"/>
              <a:gd name="connsiteX3" fmla="*/ 0 w 2065105"/>
              <a:gd name="connsiteY3" fmla="*/ 2069983 h 4139967"/>
              <a:gd name="connsiteX4" fmla="*/ 1858573 w 2065105"/>
              <a:gd name="connsiteY4" fmla="*/ 10428 h 4139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105" h="4139967">
                <a:moveTo>
                  <a:pt x="2065105" y="0"/>
                </a:moveTo>
                <a:lnTo>
                  <a:pt x="2065105" y="4139967"/>
                </a:lnTo>
                <a:lnTo>
                  <a:pt x="1858573" y="4129538"/>
                </a:lnTo>
                <a:cubicBezTo>
                  <a:pt x="814640" y="4023521"/>
                  <a:pt x="0" y="3141887"/>
                  <a:pt x="0" y="2069983"/>
                </a:cubicBezTo>
                <a:cubicBezTo>
                  <a:pt x="0" y="998079"/>
                  <a:pt x="814640" y="116446"/>
                  <a:pt x="1858573" y="10428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4">
                  <a:lumMod val="60000"/>
                  <a:lumOff val="40000"/>
                  <a:alpha val="3000"/>
                </a:schemeClr>
              </a:gs>
              <a:gs pos="100000">
                <a:schemeClr val="accent4">
                  <a:lumMod val="60000"/>
                  <a:lumOff val="40000"/>
                  <a:alpha val="37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8C307F-613A-9A4D-6C4C-E963C7203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32285"/>
            <a:ext cx="9144000" cy="663395"/>
          </a:xfrm>
        </p:spPr>
        <p:txBody>
          <a:bodyPr vert="horz" lIns="0" tIns="0" rIns="0" bIns="0" rtlCol="0" anchor="ctr">
            <a:normAutofit fontScale="90000"/>
          </a:bodyPr>
          <a:lstStyle/>
          <a:p>
            <a:pPr algn="ctr"/>
            <a:r>
              <a:rPr lang="en-US" sz="4400" spc="750" dirty="0">
                <a:solidFill>
                  <a:schemeClr val="bg1"/>
                </a:solidFill>
              </a:rPr>
              <a:t>FACTORS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4DDA62-79D4-1D74-46BA-186D0B293165}"/>
              </a:ext>
            </a:extLst>
          </p:cNvPr>
          <p:cNvSpPr txBox="1"/>
          <p:nvPr/>
        </p:nvSpPr>
        <p:spPr>
          <a:xfrm>
            <a:off x="477640" y="1521861"/>
            <a:ext cx="5291997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Data Centre Powers and Cloud Computing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Requires huge electricity to run data centers along with cloud computing.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Cooling system uses more energy  and carbon emissions if fossil fuel is used to power the center.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1-2% of </a:t>
            </a:r>
            <a:r>
              <a:rPr lang="en-US" sz="20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glabal</a:t>
            </a:r>
            <a:r>
              <a:rPr lang="en-US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electricity supply is used.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Backup power supply and disaster recovery system demands more energy.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Use of AI has given rise to the energy demand significantly in data centers</a:t>
            </a: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</a:rPr>
              <a:t>Constant uptime for Cloud computing with high performance servers demands energy for each second.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F03C0F6-C6B4-8FD7-CCEE-3B1C507B1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779" y="1521861"/>
            <a:ext cx="6054748" cy="412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9634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" name="Rectangle 3101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3" name="Rectangle 3102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04" name="Rectangle 3103">
            <a:extLst>
              <a:ext uri="{FF2B5EF4-FFF2-40B4-BE49-F238E27FC236}">
                <a16:creationId xmlns:a16="http://schemas.microsoft.com/office/drawing/2014/main" id="{D4605347-2613-41EB-8B87-A77912065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755BE-2DAA-4ABF-ACC6-32A2420B3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200" y="457201"/>
            <a:ext cx="3018972" cy="655092"/>
          </a:xfrm>
        </p:spPr>
        <p:txBody>
          <a:bodyPr vert="horz" lIns="0" tIns="0" rIns="0" bIns="0" rtlCol="0" anchor="b">
            <a:normAutofit fontScale="90000"/>
          </a:bodyPr>
          <a:lstStyle/>
          <a:p>
            <a:r>
              <a:rPr lang="en-US" sz="4000" dirty="0"/>
              <a:t>Factors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9AFA9-3E87-6E64-443F-178956F7869F}"/>
              </a:ext>
            </a:extLst>
          </p:cNvPr>
          <p:cNvSpPr txBox="1"/>
          <p:nvPr/>
        </p:nvSpPr>
        <p:spPr>
          <a:xfrm>
            <a:off x="609600" y="1112294"/>
            <a:ext cx="5917660" cy="463341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700" b="1" dirty="0"/>
              <a:t>2. </a:t>
            </a:r>
            <a:r>
              <a:rPr lang="en-US" sz="2000" b="1" dirty="0"/>
              <a:t>Encryption and Security Processes </a:t>
            </a:r>
          </a:p>
          <a:p>
            <a:pPr marL="3429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Increased CPU usage as requires more processing power for strong encryption</a:t>
            </a:r>
          </a:p>
          <a:p>
            <a:pPr marL="3429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Constant monitoring is required for multi-factor authentication demanding constant energy feeding.</a:t>
            </a:r>
          </a:p>
          <a:p>
            <a:pPr marL="3429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Recovery efforts amplify energy consumption globally with carbon emissions rising as well.</a:t>
            </a:r>
          </a:p>
          <a:p>
            <a:pPr marL="3429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Any updated hardware gives rise to electronic waste if the used hardware is deemed compromised.</a:t>
            </a:r>
          </a:p>
        </p:txBody>
      </p:sp>
      <p:pic>
        <p:nvPicPr>
          <p:cNvPr id="3076" name="Picture 4" descr="Network Server, Server Room, Big Data, Backup, Data Mining">
            <a:extLst>
              <a:ext uri="{FF2B5EF4-FFF2-40B4-BE49-F238E27FC236}">
                <a16:creationId xmlns:a16="http://schemas.microsoft.com/office/drawing/2014/main" id="{508892FA-7D42-5ACF-8338-D644B2C13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3" r="1" b="28020"/>
          <a:stretch>
            <a:fillRect/>
          </a:stretch>
        </p:blipFill>
        <p:spPr bwMode="auto">
          <a:xfrm>
            <a:off x="7205260" y="556147"/>
            <a:ext cx="4631140" cy="574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5" name="Rectangle 3104">
            <a:extLst>
              <a:ext uri="{FF2B5EF4-FFF2-40B4-BE49-F238E27FC236}">
                <a16:creationId xmlns:a16="http://schemas.microsoft.com/office/drawing/2014/main" id="{5B03C481-2433-4417-965E-BECB9D12A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6" name="Rectangle 3105">
            <a:extLst>
              <a:ext uri="{FF2B5EF4-FFF2-40B4-BE49-F238E27FC236}">
                <a16:creationId xmlns:a16="http://schemas.microsoft.com/office/drawing/2014/main" id="{A4786A78-84CD-4AC4-B2E4-2BFDC38D7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0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567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E73A53-9F46-8800-2973-B3210D8E2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E3CBB9B1-7B7D-4BA1-A1AF-572168B39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DFFF4B-5418-EA30-1909-1790CA0B4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6632" y="457201"/>
            <a:ext cx="2547257" cy="442126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2800" dirty="0"/>
              <a:t>Factors</a:t>
            </a:r>
          </a:p>
        </p:txBody>
      </p:sp>
      <p:pic>
        <p:nvPicPr>
          <p:cNvPr id="3074" name="Picture 2" descr="Burnt electronic components as technology waste background">
            <a:extLst>
              <a:ext uri="{FF2B5EF4-FFF2-40B4-BE49-F238E27FC236}">
                <a16:creationId xmlns:a16="http://schemas.microsoft.com/office/drawing/2014/main" id="{BB4F9BF6-8335-A1F8-75E7-8559D9020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5" r="7510" b="-2"/>
          <a:stretch>
            <a:fillRect/>
          </a:stretch>
        </p:blipFill>
        <p:spPr bwMode="auto">
          <a:xfrm>
            <a:off x="20" y="431"/>
            <a:ext cx="7416780" cy="6408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BF419C-B875-76B4-92E2-BCC957C493A1}"/>
              </a:ext>
            </a:extLst>
          </p:cNvPr>
          <p:cNvSpPr txBox="1"/>
          <p:nvPr/>
        </p:nvSpPr>
        <p:spPr>
          <a:xfrm>
            <a:off x="7634514" y="907270"/>
            <a:ext cx="4165599" cy="50514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14300" marR="0" lvl="0" algn="just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3.</a:t>
            </a:r>
            <a:r>
              <a:rPr kumimoji="0" lang="en-US" sz="20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Electronic Waste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: </a:t>
            </a:r>
          </a:p>
          <a:p>
            <a:pPr marL="342900" marR="0" lvl="0" indent="-228600" algn="just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Upgrading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hardwares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like firewalls, servers and network devices create a pile of electronic device wastage.</a:t>
            </a:r>
          </a:p>
          <a:p>
            <a:pPr marL="342900" marR="0" lvl="0" indent="-228600" algn="just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Release of hazardous substances like mercury, lead.</a:t>
            </a:r>
          </a:p>
          <a:p>
            <a:pPr marL="342900" marR="0" lvl="0" indent="-228600" algn="just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Soil </a:t>
            </a:r>
            <a:r>
              <a:rPr lang="en-US" sz="2000" dirty="0"/>
              <a:t>fertility is damaged limiting plant growth</a:t>
            </a:r>
          </a:p>
          <a:p>
            <a:pPr marL="342900" marR="0" lvl="0" indent="-228600" algn="just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Bur</a:t>
            </a:r>
            <a:r>
              <a:rPr lang="en-US" sz="2000" dirty="0" err="1"/>
              <a:t>ning</a:t>
            </a:r>
            <a:r>
              <a:rPr lang="en-US" sz="2000" dirty="0"/>
              <a:t> such E-waste releases toxic chemicals to air.</a:t>
            </a:r>
            <a:endParaRPr kumimoji="0" lang="en-US" sz="14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49257"/>
          </a:xfrm>
          <a:prstGeom prst="rect">
            <a:avLst/>
          </a:prstGeom>
          <a:gradFill>
            <a:gsLst>
              <a:gs pos="34000">
                <a:schemeClr val="accent4">
                  <a:alpha val="73000"/>
                </a:schemeClr>
              </a:gs>
              <a:gs pos="100000">
                <a:schemeClr val="accent5">
                  <a:alpha val="89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8314"/>
            <a:ext cx="8115300" cy="449258"/>
          </a:xfrm>
          <a:prstGeom prst="rect">
            <a:avLst/>
          </a:prstGeom>
          <a:gradFill>
            <a:gsLst>
              <a:gs pos="22000">
                <a:schemeClr val="accent5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22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E9E1E-980B-F11F-16D9-84D0EBA89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F4ABB43-0837-A271-658C-D594D5B86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3BFFF1-A711-8D24-264E-9363FFDE7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DA296D4-EEAF-BBFB-12D6-DC3207D41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D4EBD7-D098-7B8A-892C-FF6194383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" y="1"/>
            <a:ext cx="12192003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5">
                  <a:alpha val="83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C0D2BE-48A4-657B-444D-8D167BF7F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7200" y="-2"/>
            <a:ext cx="11733692" cy="6869065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48000"/>
                </a:schemeClr>
              </a:gs>
              <a:gs pos="99000">
                <a:schemeClr val="accent2">
                  <a:alpha val="57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33805B-55E4-CFCB-8134-E6436ED78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886" cy="6880604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19000"/>
                </a:schemeClr>
              </a:gs>
              <a:gs pos="99000">
                <a:schemeClr val="accent2">
                  <a:alpha val="21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9CA809-64CE-CB65-1645-93F717792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95039" y="-2895044"/>
            <a:ext cx="6400799" cy="12190885"/>
          </a:xfrm>
          <a:prstGeom prst="rect">
            <a:avLst/>
          </a:prstGeom>
          <a:gradFill>
            <a:gsLst>
              <a:gs pos="8000">
                <a:schemeClr val="accent5">
                  <a:alpha val="38000"/>
                </a:schemeClr>
              </a:gs>
              <a:gs pos="100000">
                <a:schemeClr val="accent6">
                  <a:lumMod val="75000"/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318551-AC50-E1F0-1BEA-897D60B5F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870" y="49744"/>
            <a:ext cx="6498525" cy="814916"/>
          </a:xfrm>
        </p:spPr>
        <p:txBody>
          <a:bodyPr vert="horz" lIns="0" tIns="0" rIns="0" bIns="0" rtlCol="0" anchor="b">
            <a:normAutofit/>
          </a:bodyPr>
          <a:lstStyle/>
          <a:p>
            <a:pPr algn="ctr"/>
            <a:r>
              <a:rPr lang="en-US" sz="4400" spc="750" dirty="0">
                <a:solidFill>
                  <a:schemeClr val="bg1"/>
                </a:solidFill>
              </a:rPr>
              <a:t>Prevention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FB062A-7D93-B674-2697-8D524C4E6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708" y="1420764"/>
            <a:ext cx="6857999" cy="4038605"/>
          </a:xfrm>
          <a:prstGeom prst="rect">
            <a:avLst/>
          </a:prstGeom>
          <a:gradFill>
            <a:gsLst>
              <a:gs pos="0">
                <a:schemeClr val="accent5">
                  <a:alpha val="0"/>
                </a:schemeClr>
              </a:gs>
              <a:gs pos="99000">
                <a:schemeClr val="accent4">
                  <a:lumMod val="60000"/>
                  <a:lumOff val="40000"/>
                  <a:alpha val="60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D470CC7-5DFF-5B3F-139F-E808646BD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168948">
            <a:off x="1535724" y="1053996"/>
            <a:ext cx="5005754" cy="5005754"/>
          </a:xfrm>
          <a:prstGeom prst="ellipse">
            <a:avLst/>
          </a:prstGeom>
          <a:gradFill>
            <a:gsLst>
              <a:gs pos="31000">
                <a:schemeClr val="accent6">
                  <a:alpha val="0"/>
                </a:schemeClr>
              </a:gs>
              <a:gs pos="85000">
                <a:schemeClr val="accent6">
                  <a:lumMod val="60000"/>
                  <a:lumOff val="40000"/>
                  <a:alpha val="21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2906D0-A623-7964-0DAC-C295ED15739A}"/>
              </a:ext>
            </a:extLst>
          </p:cNvPr>
          <p:cNvSpPr txBox="1"/>
          <p:nvPr/>
        </p:nvSpPr>
        <p:spPr>
          <a:xfrm>
            <a:off x="1523999" y="1363579"/>
            <a:ext cx="988423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Gill Sans Nova"/>
                <a:ea typeface="+mn-ea"/>
                <a:cs typeface="+mn-cs"/>
              </a:rPr>
              <a:t>Use of energy efficient appliances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Gill Sans Nova"/>
              </a:rPr>
              <a:t>Use of Data Centers with low power usage effectiveness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Gill Sans Nova"/>
                <a:ea typeface="+mn-ea"/>
                <a:cs typeface="+mn-cs"/>
              </a:rPr>
              <a:t>Solar Powered security systems could be the best choice for low emissions.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Gill Sans Nova"/>
              </a:rPr>
              <a:t>Proper recycling reduces e-waste from having effect on environment.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Gill Sans Nova"/>
              </a:rPr>
              <a:t>Adoption of Sustainable cybersecurity policies &amp; law.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Gill Sans Nova"/>
                <a:ea typeface="+mn-ea"/>
                <a:cs typeface="+mn-cs"/>
              </a:rPr>
              <a:t>Green IT principles such as use of renewable energy, low power consumption and lower carbon emitting systems.</a:t>
            </a:r>
          </a:p>
        </p:txBody>
      </p:sp>
    </p:spTree>
    <p:extLst>
      <p:ext uri="{BB962C8B-B14F-4D97-AF65-F5344CB8AC3E}">
        <p14:creationId xmlns:p14="http://schemas.microsoft.com/office/powerpoint/2010/main" val="312356274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</TotalTime>
  <Words>271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Gill Sans Nova</vt:lpstr>
      <vt:lpstr>Wingdings</vt:lpstr>
      <vt:lpstr>GradientRiseVTI</vt:lpstr>
      <vt:lpstr>Environmental Impact from Cybersecurity Measures</vt:lpstr>
      <vt:lpstr>FACTORS</vt:lpstr>
      <vt:lpstr>Factors</vt:lpstr>
      <vt:lpstr>Factors</vt:lpstr>
      <vt:lpstr>Prevention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Biki Maharjan</dc:creator>
  <cp:lastModifiedBy>Biki Maharjan</cp:lastModifiedBy>
  <cp:revision>1</cp:revision>
  <dcterms:created xsi:type="dcterms:W3CDTF">2026-04-03T10:00:02Z</dcterms:created>
  <dcterms:modified xsi:type="dcterms:W3CDTF">2026-04-03T16:50:45Z</dcterms:modified>
</cp:coreProperties>
</file>